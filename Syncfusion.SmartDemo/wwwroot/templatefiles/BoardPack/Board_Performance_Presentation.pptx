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38160">
              <a:solidFill>
                <a:srgbClr val="2F75B5"/>
              </a:solidFill>
              <a:round/>
            </a:ln>
          </c:spPr>
          <c:marker>
            <c:symbol val="circle"/>
            <c:size val="6"/>
            <c:spPr>
              <a:solidFill>
                <a:srgbClr val="2F75B5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Q3 FY25</c:v>
                </c:pt>
                <c:pt idx="1">
                  <c:v>Q4 FY25</c:v>
                </c:pt>
                <c:pt idx="2">
                  <c:v>Q1 FY26</c:v>
                </c:pt>
                <c:pt idx="3">
                  <c:v>Q2 FY26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43.1</c:v>
                </c:pt>
                <c:pt idx="1">
                  <c:v>45.7</c:v>
                </c:pt>
                <c:pt idx="2">
                  <c:v>46.3</c:v>
                </c:pt>
                <c:pt idx="3">
                  <c:v>48.6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3D-4FAF-8895-3C3110142C08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EBITDA</c:v>
                </c:pt>
              </c:strCache>
            </c:strRef>
          </c:tx>
          <c:spPr>
            <a:ln w="38160">
              <a:solidFill>
                <a:srgbClr val="00A6A6"/>
              </a:solidFill>
              <a:round/>
            </a:ln>
          </c:spPr>
          <c:marker>
            <c:symbol val="circle"/>
            <c:size val="6"/>
            <c:spPr>
              <a:solidFill>
                <a:srgbClr val="00A6A6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Q3 FY25</c:v>
                </c:pt>
                <c:pt idx="1">
                  <c:v>Q4 FY25</c:v>
                </c:pt>
                <c:pt idx="2">
                  <c:v>Q1 FY26</c:v>
                </c:pt>
                <c:pt idx="3">
                  <c:v>Q2 FY26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9.5</c:v>
                </c:pt>
                <c:pt idx="1">
                  <c:v>10.199999999999999</c:v>
                </c:pt>
                <c:pt idx="2">
                  <c:v>10.7</c:v>
                </c:pt>
                <c:pt idx="3">
                  <c:v>11.4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73D-4FAF-8895-3C3110142C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marker val="1"/>
        <c:smooth val="0"/>
        <c:axId val="51305345"/>
        <c:axId val="82788794"/>
      </c:lineChart>
      <c:catAx>
        <c:axId val="5130534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000000"/>
                </a:solidFill>
                <a:uFillTx/>
                <a:latin typeface="Arial"/>
              </a:defRPr>
            </a:pPr>
            <a:endParaRPr lang="en-US"/>
          </a:p>
        </c:txPr>
        <c:crossAx val="82788794"/>
        <c:crosses val="autoZero"/>
        <c:auto val="1"/>
        <c:lblAlgn val="ctr"/>
        <c:lblOffset val="100"/>
        <c:noMultiLvlLbl val="0"/>
      </c:catAx>
      <c:valAx>
        <c:axId val="82788794"/>
        <c:scaling>
          <c:orientation val="minMax"/>
        </c:scaling>
        <c:delete val="0"/>
        <c:axPos val="l"/>
        <c:majorGridlines>
          <c:spPr>
            <a:ln w="12600">
              <a:solidFill>
                <a:srgbClr val="DCE5ED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000000"/>
                </a:solidFill>
                <a:uFillTx/>
                <a:latin typeface="Arial"/>
              </a:defRPr>
            </a:pPr>
            <a:endParaRPr lang="en-US"/>
          </a:p>
        </c:txPr>
        <c:crossAx val="51305345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77DE524-E2AA-4626-898B-0E1E0B33A9C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BC9CDF-AABA-4D17-8D6B-255D324293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BC5C89-1938-4165-9562-1C9146E8F6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0" name="Shape 0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94360" y="3841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19">
                <a:solidFill>
                  <a:srgbClr val="00A6A6"/>
                </a:solidFill>
                <a:effectLst/>
                <a:uFillTx/>
                <a:latin typeface="Aptos"/>
              </a:rPr>
              <a:t>BOARD REVIEW • 15 JULY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94360" y="65844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Q2 FY2026 performance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94360" y="653796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B6573"/>
                </a:solidFill>
                <a:effectLst/>
                <a:uFillTx/>
                <a:latin typeface="Aptos"/>
              </a:rPr>
              <a:t>NORTHSTAR CONSUMER GROUP  |  CONFIDENTIAL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594360" y="1417320"/>
            <a:ext cx="2468520" cy="10422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2600" dist="50402" dir="2700000" algn="bl" rotWithShape="0">
              <a:srgbClr val="AAB7C4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594360" y="1417320"/>
            <a:ext cx="72720" cy="10422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22960" y="157284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5B6573"/>
                </a:solidFill>
                <a:effectLst/>
                <a:uFillTx/>
                <a:latin typeface="Aptos"/>
              </a:rPr>
              <a:t>REVENUE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822960" y="1792080"/>
            <a:ext cx="20113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$48.6m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822960" y="217620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A6A6"/>
                </a:solidFill>
                <a:effectLst/>
                <a:uFillTx/>
                <a:latin typeface="Aptos"/>
              </a:rPr>
              <a:t>▲ 8.5% YoY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3246120" y="1417320"/>
            <a:ext cx="2468520" cy="10422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2600" dist="50402" dir="2700000" algn="bl" rotWithShape="0">
              <a:srgbClr val="AAB7C4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3246120" y="1417320"/>
            <a:ext cx="72720" cy="10422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3474720" y="157284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5B6573"/>
                </a:solidFill>
                <a:effectLst/>
                <a:uFillTx/>
                <a:latin typeface="Aptos"/>
              </a:rPr>
              <a:t>EBITDA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3474720" y="1792080"/>
            <a:ext cx="20113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$11.4m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3474720" y="217620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23.5% margin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5897880" y="1417320"/>
            <a:ext cx="2468520" cy="10422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2600" dist="50402" dir="2700000" algn="bl" rotWithShape="0">
              <a:srgbClr val="AAB7C4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5897880" y="1417320"/>
            <a:ext cx="72720" cy="1042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6126480" y="157284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5B6573"/>
                </a:solidFill>
                <a:effectLst/>
                <a:uFillTx/>
                <a:latin typeface="Aptos"/>
              </a:rPr>
              <a:t>FREE CASH FLOW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6126480" y="1792080"/>
            <a:ext cx="20113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$6.8m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6126480" y="217620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7D32"/>
                </a:solidFill>
                <a:effectLst/>
                <a:uFillTx/>
                <a:latin typeface="Aptos"/>
              </a:rPr>
              <a:t>▲ $0.9m vs plan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8549640" y="1417320"/>
            <a:ext cx="2468520" cy="10422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  <a:effectLst>
            <a:outerShdw blurRad="12600" dist="50402" dir="2700000" algn="bl" rotWithShape="0">
              <a:srgbClr val="AAB7C4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8549640" y="1417320"/>
            <a:ext cx="72720" cy="1042200"/>
          </a:xfrm>
          <a:prstGeom prst="rect">
            <a:avLst/>
          </a:prstGeom>
          <a:solidFill>
            <a:srgbClr val="D5A021"/>
          </a:solidFill>
          <a:ln w="12700">
            <a:solidFill>
              <a:srgbClr val="D5A02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8778240" y="157284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5B6573"/>
                </a:solidFill>
                <a:effectLst/>
                <a:uFillTx/>
                <a:latin typeface="Aptos"/>
              </a:rPr>
              <a:t>NET PROMOTER SCORE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8778240" y="1792080"/>
            <a:ext cx="20113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58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8778240" y="217620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5A021"/>
                </a:solidFill>
                <a:effectLst/>
                <a:uFillTx/>
                <a:latin typeface="Aptos"/>
              </a:rPr>
              <a:t>▲ 4 points QoQ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594360" y="278892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Quarterly operating trend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" name="Chart 0"/>
          <p:cNvGraphicFramePr/>
          <p:nvPr/>
        </p:nvGraphicFramePr>
        <p:xfrm>
          <a:off x="594360" y="3127320"/>
          <a:ext cx="6491880" cy="290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Text 25"/>
          <p:cNvSpPr/>
          <p:nvPr/>
        </p:nvSpPr>
        <p:spPr>
          <a:xfrm>
            <a:off x="7452360" y="278892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Board takeaways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6"/>
          <p:cNvSpPr/>
          <p:nvPr/>
        </p:nvSpPr>
        <p:spPr>
          <a:xfrm>
            <a:off x="7452360" y="3154680"/>
            <a:ext cx="4114440" cy="69444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7"/>
          <p:cNvSpPr/>
          <p:nvPr/>
        </p:nvSpPr>
        <p:spPr>
          <a:xfrm>
            <a:off x="7635240" y="327348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A6A6"/>
                </a:solidFill>
                <a:effectLst/>
                <a:uFillTx/>
                <a:latin typeface="Aptos"/>
              </a:rPr>
              <a:t>Growth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8549640" y="3246120"/>
            <a:ext cx="2761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Direct channel and Horizon launch drove outperformance.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9"/>
          <p:cNvSpPr/>
          <p:nvPr/>
        </p:nvSpPr>
        <p:spPr>
          <a:xfrm>
            <a:off x="7452360" y="4014360"/>
            <a:ext cx="4114440" cy="69444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0"/>
          <p:cNvSpPr/>
          <p:nvPr/>
        </p:nvSpPr>
        <p:spPr>
          <a:xfrm>
            <a:off x="7635240" y="413316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A6A6"/>
                </a:solidFill>
                <a:effectLst/>
                <a:uFillTx/>
                <a:latin typeface="Aptos"/>
              </a:rPr>
              <a:t>Margin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1"/>
          <p:cNvSpPr/>
          <p:nvPr/>
        </p:nvSpPr>
        <p:spPr>
          <a:xfrm>
            <a:off x="8549640" y="4105800"/>
            <a:ext cx="2761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Freight and promotion pressure reduced gross margin by 60 bps.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2"/>
          <p:cNvSpPr/>
          <p:nvPr/>
        </p:nvSpPr>
        <p:spPr>
          <a:xfrm>
            <a:off x="7452360" y="4873680"/>
            <a:ext cx="4114440" cy="694440"/>
          </a:xfrm>
          <a:prstGeom prst="roundRect">
            <a:avLst>
              <a:gd name="adj" fmla="val 6579"/>
            </a:avLst>
          </a:prstGeom>
          <a:solidFill>
            <a:srgbClr val="E7F5F5"/>
          </a:solidFill>
          <a:ln w="12700">
            <a:solidFill>
              <a:srgbClr val="00A6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3"/>
          <p:cNvSpPr/>
          <p:nvPr/>
        </p:nvSpPr>
        <p:spPr>
          <a:xfrm>
            <a:off x="7635240" y="499248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A6A6"/>
                </a:solidFill>
                <a:effectLst/>
                <a:uFillTx/>
                <a:latin typeface="Aptos"/>
              </a:rPr>
              <a:t>Outlook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4"/>
          <p:cNvSpPr/>
          <p:nvPr/>
        </p:nvSpPr>
        <p:spPr>
          <a:xfrm>
            <a:off x="8549640" y="4965120"/>
            <a:ext cx="27612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Revenue guidance retained; EBITDA narrowed to $44m–$46m.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6" name="Shape 0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594360" y="3841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19">
                <a:solidFill>
                  <a:srgbClr val="00A6A6"/>
                </a:solidFill>
                <a:effectLst/>
                <a:uFillTx/>
                <a:latin typeface="Aptos"/>
              </a:rPr>
              <a:t>FOR BOARD ACTION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594360" y="658440"/>
            <a:ext cx="10789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Decisions, priorities and principal risk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594360" y="653796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B6573"/>
                </a:solidFill>
                <a:effectLst/>
                <a:uFillTx/>
                <a:latin typeface="Aptos"/>
              </a:rPr>
              <a:t>NORTHSTAR CONSUMER GROUP  |  CONFIDENTIAL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594360" y="13258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Decisions requested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5"/>
          <p:cNvSpPr/>
          <p:nvPr/>
        </p:nvSpPr>
        <p:spPr>
          <a:xfrm>
            <a:off x="594360" y="1673280"/>
            <a:ext cx="5211720" cy="639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6"/>
          <p:cNvSpPr/>
          <p:nvPr/>
        </p:nvSpPr>
        <p:spPr>
          <a:xfrm>
            <a:off x="768240" y="1792080"/>
            <a:ext cx="402120" cy="4021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768240" y="1874520"/>
            <a:ext cx="4021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8"/>
          <p:cNvSpPr/>
          <p:nvPr/>
        </p:nvSpPr>
        <p:spPr>
          <a:xfrm>
            <a:off x="1353240" y="178308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$6.0m Dallas automation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9"/>
          <p:cNvSpPr/>
          <p:nvPr/>
        </p:nvSpPr>
        <p:spPr>
          <a:xfrm>
            <a:off x="3429000" y="1783080"/>
            <a:ext cx="21942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573"/>
                </a:solidFill>
                <a:effectLst/>
                <a:uFillTx/>
                <a:latin typeface="Aptos"/>
              </a:rPr>
              <a:t>Approve phase-one capital investment.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0"/>
          <p:cNvSpPr/>
          <p:nvPr/>
        </p:nvSpPr>
        <p:spPr>
          <a:xfrm>
            <a:off x="594360" y="2496240"/>
            <a:ext cx="5211720" cy="639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1"/>
          <p:cNvSpPr/>
          <p:nvPr/>
        </p:nvSpPr>
        <p:spPr>
          <a:xfrm>
            <a:off x="768240" y="2615040"/>
            <a:ext cx="402120" cy="4021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768240" y="2697480"/>
            <a:ext cx="4021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1353240" y="260604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$20.0m revolving facility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4"/>
          <p:cNvSpPr/>
          <p:nvPr/>
        </p:nvSpPr>
        <p:spPr>
          <a:xfrm>
            <a:off x="3429000" y="2606040"/>
            <a:ext cx="21942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573"/>
                </a:solidFill>
                <a:effectLst/>
                <a:uFillTx/>
                <a:latin typeface="Aptos"/>
              </a:rPr>
              <a:t>Authorize three-year renewal.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5"/>
          <p:cNvSpPr/>
          <p:nvPr/>
        </p:nvSpPr>
        <p:spPr>
          <a:xfrm>
            <a:off x="594360" y="3319200"/>
            <a:ext cx="5211720" cy="639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6"/>
          <p:cNvSpPr/>
          <p:nvPr/>
        </p:nvSpPr>
        <p:spPr>
          <a:xfrm>
            <a:off x="768240" y="3438000"/>
            <a:ext cx="402120" cy="4021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7"/>
          <p:cNvSpPr/>
          <p:nvPr/>
        </p:nvSpPr>
        <p:spPr>
          <a:xfrm>
            <a:off x="768240" y="3520440"/>
            <a:ext cx="40212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8"/>
          <p:cNvSpPr/>
          <p:nvPr/>
        </p:nvSpPr>
        <p:spPr>
          <a:xfrm>
            <a:off x="1353240" y="342900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Cyber-risk appetite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3429000" y="3429000"/>
            <a:ext cx="21942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573"/>
                </a:solidFill>
                <a:effectLst/>
                <a:uFillTx/>
                <a:latin typeface="Aptos"/>
              </a:rPr>
              <a:t>Endorse revised thresholds and reporting.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0"/>
          <p:cNvSpPr/>
          <p:nvPr/>
        </p:nvSpPr>
        <p:spPr>
          <a:xfrm>
            <a:off x="594360" y="43891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Delivery roadmap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1"/>
          <p:cNvSpPr/>
          <p:nvPr/>
        </p:nvSpPr>
        <p:spPr>
          <a:xfrm>
            <a:off x="960120" y="4919400"/>
            <a:ext cx="2468880" cy="9000"/>
          </a:xfrm>
          <a:prstGeom prst="line">
            <a:avLst/>
          </a:prstGeom>
          <a:ln w="25400">
            <a:solidFill>
              <a:srgbClr val="B8C8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2"/>
          <p:cNvSpPr/>
          <p:nvPr/>
        </p:nvSpPr>
        <p:spPr>
          <a:xfrm>
            <a:off x="594360" y="4736520"/>
            <a:ext cx="383760" cy="383760"/>
          </a:xfrm>
          <a:prstGeom prst="ellipse">
            <a:avLst/>
          </a:prstGeom>
          <a:solidFill>
            <a:srgbClr val="D5A021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1097280" y="468180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A6A6"/>
                </a:solidFill>
                <a:effectLst/>
                <a:uFillTx/>
                <a:latin typeface="Aptos"/>
              </a:rPr>
              <a:t>31 AUG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4"/>
          <p:cNvSpPr/>
          <p:nvPr/>
        </p:nvSpPr>
        <p:spPr>
          <a:xfrm>
            <a:off x="1097280" y="495612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Dallas design freeze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5"/>
          <p:cNvSpPr/>
          <p:nvPr/>
        </p:nvSpPr>
        <p:spPr>
          <a:xfrm>
            <a:off x="3749040" y="4919400"/>
            <a:ext cx="2468880" cy="9000"/>
          </a:xfrm>
          <a:prstGeom prst="line">
            <a:avLst/>
          </a:prstGeom>
          <a:ln w="25400">
            <a:solidFill>
              <a:srgbClr val="B8C8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6"/>
          <p:cNvSpPr/>
          <p:nvPr/>
        </p:nvSpPr>
        <p:spPr>
          <a:xfrm>
            <a:off x="3383280" y="4736520"/>
            <a:ext cx="383760" cy="38376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7"/>
          <p:cNvSpPr/>
          <p:nvPr/>
        </p:nvSpPr>
        <p:spPr>
          <a:xfrm>
            <a:off x="3886200" y="468180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A6A6"/>
                </a:solidFill>
                <a:effectLst/>
                <a:uFillTx/>
                <a:latin typeface="Aptos"/>
              </a:rPr>
              <a:t>04 SEP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8"/>
          <p:cNvSpPr/>
          <p:nvPr/>
        </p:nvSpPr>
        <p:spPr>
          <a:xfrm>
            <a:off x="3886200" y="495612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Cyber deep dive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9"/>
          <p:cNvSpPr/>
          <p:nvPr/>
        </p:nvSpPr>
        <p:spPr>
          <a:xfrm>
            <a:off x="6537960" y="4919400"/>
            <a:ext cx="2468880" cy="9000"/>
          </a:xfrm>
          <a:prstGeom prst="line">
            <a:avLst/>
          </a:prstGeom>
          <a:ln w="25400">
            <a:solidFill>
              <a:srgbClr val="B8C8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0"/>
          <p:cNvSpPr/>
          <p:nvPr/>
        </p:nvSpPr>
        <p:spPr>
          <a:xfrm>
            <a:off x="6172200" y="4736520"/>
            <a:ext cx="383760" cy="383760"/>
          </a:xfrm>
          <a:prstGeom prst="ellipse">
            <a:avLst/>
          </a:prstGeom>
          <a:solidFill>
            <a:srgbClr val="D5A021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1"/>
          <p:cNvSpPr/>
          <p:nvPr/>
        </p:nvSpPr>
        <p:spPr>
          <a:xfrm>
            <a:off x="6675120" y="468180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A6A6"/>
                </a:solidFill>
                <a:effectLst/>
                <a:uFillTx/>
                <a:latin typeface="Aptos"/>
              </a:rPr>
              <a:t>01 OCT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2"/>
          <p:cNvSpPr/>
          <p:nvPr/>
        </p:nvSpPr>
        <p:spPr>
          <a:xfrm>
            <a:off x="6675120" y="495612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ERP finance go-live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3"/>
          <p:cNvSpPr/>
          <p:nvPr/>
        </p:nvSpPr>
        <p:spPr>
          <a:xfrm>
            <a:off x="9326880" y="4919400"/>
            <a:ext cx="2468880" cy="9000"/>
          </a:xfrm>
          <a:prstGeom prst="line">
            <a:avLst/>
          </a:prstGeom>
          <a:ln w="25400">
            <a:solidFill>
              <a:srgbClr val="B8C8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4"/>
          <p:cNvSpPr/>
          <p:nvPr/>
        </p:nvSpPr>
        <p:spPr>
          <a:xfrm>
            <a:off x="8961120" y="4736520"/>
            <a:ext cx="383760" cy="38376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5"/>
          <p:cNvSpPr/>
          <p:nvPr/>
        </p:nvSpPr>
        <p:spPr>
          <a:xfrm>
            <a:off x="9464040" y="468180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A6A6"/>
                </a:solidFill>
                <a:effectLst/>
                <a:uFillTx/>
                <a:latin typeface="Aptos"/>
              </a:rPr>
              <a:t>16 OCT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6"/>
          <p:cNvSpPr/>
          <p:nvPr/>
        </p:nvSpPr>
        <p:spPr>
          <a:xfrm>
            <a:off x="9464040" y="495612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Next Board meeting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7"/>
          <p:cNvSpPr/>
          <p:nvPr/>
        </p:nvSpPr>
        <p:spPr>
          <a:xfrm>
            <a:off x="6172200" y="132588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Principal risks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8"/>
          <p:cNvSpPr/>
          <p:nvPr/>
        </p:nvSpPr>
        <p:spPr>
          <a:xfrm>
            <a:off x="6172200" y="1673280"/>
            <a:ext cx="5394600" cy="639720"/>
          </a:xfrm>
          <a:prstGeom prst="roundRect">
            <a:avLst>
              <a:gd name="adj" fmla="val 7143"/>
            </a:avLst>
          </a:prstGeom>
          <a:solidFill>
            <a:srgbClr val="FFF7E1"/>
          </a:solidFill>
          <a:ln w="12700">
            <a:solidFill>
              <a:srgbClr val="D5A02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9"/>
          <p:cNvSpPr/>
          <p:nvPr/>
        </p:nvSpPr>
        <p:spPr>
          <a:xfrm>
            <a:off x="6382440" y="176472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Supply continuity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0"/>
          <p:cNvSpPr/>
          <p:nvPr/>
        </p:nvSpPr>
        <p:spPr>
          <a:xfrm>
            <a:off x="7845480" y="1764720"/>
            <a:ext cx="1416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D5A021"/>
                </a:solidFill>
                <a:effectLst/>
                <a:uFillTx/>
                <a:latin typeface="Aptos"/>
              </a:rPr>
              <a:t>HIGH • STABLE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1"/>
          <p:cNvSpPr/>
          <p:nvPr/>
        </p:nvSpPr>
        <p:spPr>
          <a:xfrm>
            <a:off x="9253800" y="174636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573"/>
                </a:solidFill>
                <a:effectLst/>
                <a:uFillTx/>
                <a:latin typeface="Aptos"/>
              </a:rPr>
              <a:t>Dual-source validation due September; 12 weeks safety stock.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42"/>
          <p:cNvSpPr/>
          <p:nvPr/>
        </p:nvSpPr>
        <p:spPr>
          <a:xfrm>
            <a:off x="6172200" y="2496240"/>
            <a:ext cx="5394600" cy="639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43"/>
          <p:cNvSpPr/>
          <p:nvPr/>
        </p:nvSpPr>
        <p:spPr>
          <a:xfrm>
            <a:off x="6382440" y="258768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Cyber security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4"/>
          <p:cNvSpPr/>
          <p:nvPr/>
        </p:nvSpPr>
        <p:spPr>
          <a:xfrm>
            <a:off x="7845480" y="2587680"/>
            <a:ext cx="1416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E7D32"/>
                </a:solidFill>
                <a:effectLst/>
                <a:uFillTx/>
                <a:latin typeface="Aptos"/>
              </a:rPr>
              <a:t>HIGH • IMPROVING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5"/>
          <p:cNvSpPr/>
          <p:nvPr/>
        </p:nvSpPr>
        <p:spPr>
          <a:xfrm>
            <a:off x="9253800" y="256932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573"/>
                </a:solidFill>
                <a:effectLst/>
                <a:uFillTx/>
                <a:latin typeface="Aptos"/>
              </a:rPr>
              <a:t>Privileged-access remediation remains critical path.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46"/>
          <p:cNvSpPr/>
          <p:nvPr/>
        </p:nvSpPr>
        <p:spPr>
          <a:xfrm>
            <a:off x="6172200" y="3319200"/>
            <a:ext cx="5394600" cy="6397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7"/>
          <p:cNvSpPr/>
          <p:nvPr/>
        </p:nvSpPr>
        <p:spPr>
          <a:xfrm>
            <a:off x="6382440" y="341064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7324D"/>
                </a:solidFill>
                <a:effectLst/>
                <a:uFillTx/>
                <a:latin typeface="Aptos"/>
              </a:rPr>
              <a:t>Margin pressure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48"/>
          <p:cNvSpPr/>
          <p:nvPr/>
        </p:nvSpPr>
        <p:spPr>
          <a:xfrm>
            <a:off x="7845480" y="3410640"/>
            <a:ext cx="1416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D5A021"/>
                </a:solidFill>
                <a:effectLst/>
                <a:uFillTx/>
                <a:latin typeface="Aptos"/>
              </a:rPr>
              <a:t>MEDIUM • WORSENING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9"/>
          <p:cNvSpPr/>
          <p:nvPr/>
        </p:nvSpPr>
        <p:spPr>
          <a:xfrm>
            <a:off x="9253800" y="3392280"/>
            <a:ext cx="2057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573"/>
                </a:solidFill>
                <a:effectLst/>
                <a:uFillTx/>
                <a:latin typeface="Aptos"/>
              </a:rPr>
              <a:t>Pricing and supplier actions target 30–50 bps exposure.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50"/>
          <p:cNvSpPr/>
          <p:nvPr/>
        </p:nvSpPr>
        <p:spPr>
          <a:xfrm>
            <a:off x="6172200" y="4434840"/>
            <a:ext cx="5394600" cy="1051200"/>
          </a:xfrm>
          <a:prstGeom prst="roundRect">
            <a:avLst>
              <a:gd name="adj" fmla="val 4348"/>
            </a:avLst>
          </a:prstGeom>
          <a:solidFill>
            <a:srgbClr val="17324D"/>
          </a:solidFill>
          <a:ln w="12700">
            <a:solidFill>
              <a:srgbClr val="173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1"/>
          <p:cNvSpPr/>
          <p:nvPr/>
        </p:nvSpPr>
        <p:spPr>
          <a:xfrm>
            <a:off x="6446520" y="464508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9DCDC"/>
                </a:solidFill>
                <a:effectLst/>
                <a:uFillTx/>
                <a:latin typeface="Aptos"/>
              </a:rPr>
              <a:t>Management recommendation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2"/>
          <p:cNvSpPr/>
          <p:nvPr/>
        </p:nvSpPr>
        <p:spPr>
          <a:xfrm>
            <a:off x="6446520" y="49194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Approve all three resolutions and maintain monthly executive oversight of Dallas automation and ERP cutover readiness.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Northstar Consumer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FY2026 Board Review</dc:title>
  <dc:subject>Board Pack Demo</dc:subject>
  <dc:creator>Venkateshwaran Krishnamoorthy</dc:creator>
  <dc:description/>
  <cp:lastModifiedBy>Venkateshwaran Krishnamoorthy</cp:lastModifiedBy>
  <cp:revision>2</cp:revision>
  <dcterms:created xsi:type="dcterms:W3CDTF">2026-08-31T06:08:20Z</dcterms:created>
  <dcterms:modified xsi:type="dcterms:W3CDTF">2026-08-31T06:10:48Z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</vt:r8>
  </property>
  <property fmtid="{D5CDD505-2E9C-101B-9397-08002B2CF9AE}" pid="3" name="PresentationFormat">
    <vt:lpwstr>On-screen Show (16:9)</vt:lpwstr>
  </property>
  <property fmtid="{D5CDD505-2E9C-101B-9397-08002B2CF9AE}" pid="4" name="Slides">
    <vt:r8>2</vt:r8>
  </property>
</Properties>
</file>